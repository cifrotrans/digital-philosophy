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8397538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8397538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083975386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08397538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083975386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083975386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83975386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83975386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083975386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083975386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83975386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83975386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83975386_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83975386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83975386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083975386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083975386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08397538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83975386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83975386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083975386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083975386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83975386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083975386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83975386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83975386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083975386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083975386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083975386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083975386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083975386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083975386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083975386_3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083975386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083975386_3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083975386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83975386_3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083975386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0432179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0432179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04321791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04321791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04321791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04321791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083975386_3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083975386_3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Метрика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Основы ЯМ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 метрика?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какая из компаний </a:t>
            </a:r>
            <a:r>
              <a:rPr lang="ru"/>
              <a:t>эффективна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можно ли </a:t>
            </a:r>
            <a:r>
              <a:rPr lang="ru"/>
              <a:t>получить</a:t>
            </a:r>
            <a:r>
              <a:rPr lang="ru"/>
              <a:t> больше конверсий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сколько кликов не превратились в заказ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Как это адаптируется для медиа проекта?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Базовые показатели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Визиты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единая непрерывная сессия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ru"/>
              <a:t>30 минут таймаут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ru"/>
              <a:t>новые сутки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ru"/>
              <a:t>переход с одной рефера \ источника трафика на другой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Посетители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оценка охвата и лояльности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выявление ядра аудитории (возврат)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анализ когорт (поведение пользователей пришедших в </a:t>
            </a:r>
            <a:r>
              <a:rPr lang="ru"/>
              <a:t>определенный</a:t>
            </a:r>
            <a:r>
              <a:rPr lang="ru"/>
              <a:t> период)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Показатель отказов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&lt;15 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&lt; 1 стр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нет служебного событие “не отказ” – пользователь выразил интерес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739750" y="1337500"/>
            <a:ext cx="576300" cy="9756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7227500" y="1204600"/>
            <a:ext cx="18624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u" sz="1300">
                <a:solidFill>
                  <a:schemeClr val="dk2"/>
                </a:solidFill>
              </a:rPr>
              <a:t>глубина потребления </a:t>
            </a:r>
            <a:r>
              <a:rPr lang="ru" sz="1300">
                <a:solidFill>
                  <a:schemeClr val="dk2"/>
                </a:solidFill>
              </a:rPr>
              <a:t>контента</a:t>
            </a:r>
            <a:r>
              <a:rPr lang="ru" sz="1300">
                <a:solidFill>
                  <a:schemeClr val="dk2"/>
                </a:solidFill>
              </a:rPr>
              <a:t> за раз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ru" sz="1300">
                <a:solidFill>
                  <a:schemeClr val="dk2"/>
                </a:solidFill>
              </a:rPr>
              <a:t>путь пользователя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визит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количество</a:t>
            </a:r>
            <a:r>
              <a:rPr lang="ru"/>
              <a:t> визитов и кликов может не </a:t>
            </a:r>
            <a:r>
              <a:rPr lang="ru"/>
              <a:t>совпадать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 дата первого визита и источника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часто пользователь возвращался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определить что привлекает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отчеты 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События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популярные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заголовки страниц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url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загрузки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Визиты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источники, сводка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устройства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страницы входа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Посетители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отчет со списком посетителей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долгосрочные интересы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источники сводка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группировка</a:t>
            </a:r>
            <a:r>
              <a:rPr lang="ru"/>
              <a:t> - параметр по которому строится таблица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/>
              <a:t>метрика </a:t>
            </a:r>
            <a:r>
              <a:rPr lang="ru"/>
              <a:t>- характеристика по которой анализируется </a:t>
            </a:r>
            <a:r>
              <a:rPr lang="ru"/>
              <a:t>группировка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ru"/>
              <a:t>сегмент </a:t>
            </a:r>
            <a:r>
              <a:rPr lang="ru"/>
              <a:t>-  выделенная по какому то признаку часть данных о посетителях сайта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отчет по</a:t>
            </a:r>
            <a:r>
              <a:rPr lang="ru"/>
              <a:t> источникам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прямые заходы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переход по ссылкам на сайтах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 поисковых систем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 социальных сетей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 сохраненных локально страниц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 рекомендательных систем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 </a:t>
            </a:r>
            <a:r>
              <a:rPr lang="ru"/>
              <a:t>мессенджеров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 </a:t>
            </a:r>
            <a:r>
              <a:rPr lang="ru"/>
              <a:t>определен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4958750" y="1292900"/>
            <a:ext cx="606000" cy="3052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5780100" y="2513275"/>
            <a:ext cx="30522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эффективность источников по конверсии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отчеты 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>
                <a:solidFill>
                  <a:schemeClr val="dk1"/>
                </a:solidFill>
              </a:rPr>
              <a:t>Сайты</a:t>
            </a:r>
            <a:endParaRPr sz="7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u" sz="1100"/>
              <a:t>с каких сайтов </a:t>
            </a:r>
            <a:endParaRPr sz="1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/>
              <a:t>Поисковые</a:t>
            </a:r>
            <a:r>
              <a:rPr lang="ru" sz="1500"/>
              <a:t> системы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ru" sz="1500"/>
              <a:t>запросы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ru" sz="1500"/>
              <a:t>вовлеченность по отказам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ru" sz="1500"/>
              <a:t>источники переходов на </a:t>
            </a:r>
            <a:r>
              <a:rPr lang="ru" sz="1500"/>
              <a:t>страницы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ru" sz="1500"/>
              <a:t>сегментирование на брендовые запросы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ru" sz="1500"/>
              <a:t>поисковые</a:t>
            </a:r>
            <a:r>
              <a:rPr lang="ru" sz="1500"/>
              <a:t> запросы для рекламы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UTM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Обязательные параметры UTM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utm_source — источник трафика (например, yandex, google, vk).​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utm_medium — канал трафика или тип трафика (например, cpc, email, banner).​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utm_campaign — название кампании для идентификации (например, autumn_sale).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Необязательные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utm_content — используется для различения вариаций объявлений или креативов в одной кампании (например, banner1, banner2).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utm_term — указывает ключевое слово или фразу, по которой пришёл пользователь (обычно для контекстной рекламы).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отчете все 5!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Базовые показатели 2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глубина просмотра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время на сайте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Для медиа в каких случаях “чем больше - тем лучше” не работает?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уровень конверсии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что можно считать к. для медиа?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CR (</a:t>
            </a:r>
            <a:r>
              <a:rPr lang="ru"/>
              <a:t>conversion</a:t>
            </a:r>
            <a:r>
              <a:rPr lang="ru"/>
              <a:t> rate) 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Воронка: % перехода по рекламе      визит на сайт      конверсия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/>
          <p:nvPr/>
        </p:nvSpPr>
        <p:spPr>
          <a:xfrm>
            <a:off x="4049750" y="3244250"/>
            <a:ext cx="221700" cy="15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/>
          <p:nvPr/>
        </p:nvSpPr>
        <p:spPr>
          <a:xfrm>
            <a:off x="5879700" y="3244250"/>
            <a:ext cx="221700" cy="15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способы установки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системы управления тегами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SPA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атоцель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js событие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составная цель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офлайн конверсия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FTP-сервер;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SFTP-сервер;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ссылка HTTP/HTTPS;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Google Sheets.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Подготовка файла: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ru" sz="1150">
                <a:solidFill>
                  <a:schemeClr val="dk1"/>
                </a:solidFill>
                <a:highlight>
                  <a:srgbClr val="FFFFFF"/>
                </a:highlight>
              </a:rPr>
              <a:t>Дата и время совершения конверсии. Обязательное поле: </a:t>
            </a: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create_date_time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50">
                <a:solidFill>
                  <a:schemeClr val="dk1"/>
                </a:solidFill>
                <a:highlight>
                  <a:srgbClr val="FFFFFF"/>
                </a:highlight>
              </a:rPr>
              <a:t>Идентификаторы пользователя. Обязательно хотя бы одно из полей:</a:t>
            </a: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client_ids emails  phones emails_md5 phones_md5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50">
                <a:solidFill>
                  <a:schemeClr val="dk1"/>
                </a:solidFill>
                <a:highlight>
                  <a:srgbClr val="FFFFFF"/>
                </a:highlight>
              </a:rPr>
              <a:t>Необязательные поля: </a:t>
            </a:r>
            <a:r>
              <a:rPr lang="ru" sz="1150">
                <a:solidFill>
                  <a:schemeClr val="dk1"/>
                </a:solidFill>
                <a:highlight>
                  <a:srgbClr val="FFFFFF"/>
                </a:highlight>
              </a:rPr>
              <a:t>id  client_uniq_id order_status revenue cost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150">
                <a:solidFill>
                  <a:schemeClr val="dk1"/>
                </a:solidFill>
                <a:highlight>
                  <a:srgbClr val="FFFFFF"/>
                </a:highlight>
              </a:rPr>
              <a:t>можно использовать JS цели  как статус заказа</a:t>
            </a:r>
            <a:endParaRPr i="1"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ru" sz="1150">
                <a:solidFill>
                  <a:schemeClr val="dk1"/>
                </a:solidFill>
                <a:highlight>
                  <a:srgbClr val="FFFFFF"/>
                </a:highlight>
              </a:rPr>
              <a:t>СМ:</a:t>
            </a:r>
            <a:r>
              <a:rPr i="1" lang="ru" sz="1150" u="sng">
                <a:solidFill>
                  <a:schemeClr val="dk1"/>
                </a:solidFill>
                <a:highlight>
                  <a:srgbClr val="FFFFFF"/>
                </a:highlight>
              </a:rPr>
              <a:t> https://yandex.ru/support/direct/ru/statistics/conversions</a:t>
            </a:r>
            <a:endParaRPr i="1" sz="1150" u="sng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5616400" y="1315425"/>
            <a:ext cx="2904300" cy="1034625"/>
          </a:xfrm>
          <a:prstGeom prst="flowChartPunched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/>
        </p:nvSpPr>
        <p:spPr>
          <a:xfrm>
            <a:off x="5852950" y="1581475"/>
            <a:ext cx="24312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Какие ОК в медиа?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AB отчет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2106375"/>
            <a:ext cx="85206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Дельта - абсолютная разница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Разница в процентах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Доверительный </a:t>
            </a:r>
            <a:r>
              <a:rPr lang="ru"/>
              <a:t>интервал</a:t>
            </a:r>
            <a:r>
              <a:rPr lang="ru"/>
              <a:t> - </a:t>
            </a:r>
            <a:r>
              <a:rPr lang="ru"/>
              <a:t>диапазон</a:t>
            </a:r>
            <a:r>
              <a:rPr lang="ru"/>
              <a:t> в </a:t>
            </a:r>
            <a:r>
              <a:rPr lang="ru"/>
              <a:t>котором</a:t>
            </a:r>
            <a:r>
              <a:rPr lang="ru"/>
              <a:t> с определенной долей вероятности (обычно 95 %) истинное значение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стандартное отклонение - мера разброса данных от среднего значения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p-value - вероятность случайности эффекта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MDE minimal detectable </a:t>
            </a:r>
            <a:r>
              <a:rPr lang="ru"/>
              <a:t>effect минимальный обнаруживаемый эффект </a:t>
            </a:r>
            <a:r>
              <a:rPr lang="ru"/>
              <a:t>  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5743575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Обзор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можно: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менять период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создавать виджеты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отчеты по событиям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</a:rPr>
              <a:t>отчет - время до загрузки страниц &lt;= 5 c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>
                <a:solidFill>
                  <a:schemeClr val="dk1"/>
                </a:solidFill>
              </a:rPr>
              <a:t>отчет - время отрисовки &lt;= 2 c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группа Аудитория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География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Долгосрочные интересы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Аффинити-индекс — это отношение интереса к теме (процент представителей целевой аудитории с определённым признаком в выбранной группе) к этому же интересу в интернете в целом (в базовой аудитории).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Социодемографические характеристики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Активность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Уровень лояльности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/>
          <p:nvPr/>
        </p:nvSpPr>
        <p:spPr>
          <a:xfrm>
            <a:off x="3635800" y="2904300"/>
            <a:ext cx="916500" cy="1300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9"/>
          <p:cNvSpPr txBox="1"/>
          <p:nvPr/>
        </p:nvSpPr>
        <p:spPr>
          <a:xfrm>
            <a:off x="4552300" y="2771275"/>
            <a:ext cx="39834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проверка активности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ru" sz="1800">
                <a:solidFill>
                  <a:schemeClr val="dk2"/>
                </a:solidFill>
              </a:rPr>
              <a:t>глубина просмотра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ru" sz="1800">
                <a:solidFill>
                  <a:schemeClr val="dk2"/>
                </a:solidFill>
              </a:rPr>
              <a:t>время на сайте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ru" sz="1800">
                <a:solidFill>
                  <a:schemeClr val="dk2"/>
                </a:solidFill>
              </a:rPr>
              <a:t>посещаемость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лояльности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общее число визитов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периодичность</a:t>
            </a:r>
            <a:r>
              <a:rPr lang="ru"/>
              <a:t> визитов - </a:t>
            </a:r>
            <a:r>
              <a:rPr lang="ru"/>
              <a:t>сколько</a:t>
            </a:r>
            <a:r>
              <a:rPr lang="ru"/>
              <a:t> дней между посещениями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время с первого - посетители с </a:t>
            </a:r>
            <a:r>
              <a:rPr lang="ru"/>
              <a:t>наибольшим</a:t>
            </a:r>
            <a:r>
              <a:rPr lang="ru"/>
              <a:t> лояльные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время </a:t>
            </a:r>
            <a:r>
              <a:rPr lang="ru"/>
              <a:t>предпоследнего</a:t>
            </a:r>
            <a:r>
              <a:rPr lang="ru"/>
              <a:t> - </a:t>
            </a:r>
            <a:r>
              <a:rPr lang="ru"/>
              <a:t>если контент</a:t>
            </a:r>
            <a:r>
              <a:rPr lang="ru"/>
              <a:t> пополняется регулярно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отчет по технологиям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браузер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разрешение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ОС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устройства</a:t>
            </a:r>
            <a:endParaRPr/>
          </a:p>
        </p:txBody>
      </p:sp>
      <p:sp>
        <p:nvSpPr>
          <p:cNvPr id="175" name="Google Shape;175;p31"/>
          <p:cNvSpPr/>
          <p:nvPr/>
        </p:nvSpPr>
        <p:spPr>
          <a:xfrm>
            <a:off x="2556975" y="1322825"/>
            <a:ext cx="716700" cy="11160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414225" y="1692325"/>
            <a:ext cx="20988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оптимизация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вебвизор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15 дней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ограниченное</a:t>
            </a:r>
            <a:r>
              <a:rPr lang="ru"/>
              <a:t> </a:t>
            </a:r>
            <a:r>
              <a:rPr lang="ru"/>
              <a:t>количество</a:t>
            </a:r>
            <a:r>
              <a:rPr lang="ru"/>
              <a:t> для усреднения </a:t>
            </a:r>
            <a:r>
              <a:rPr lang="ru"/>
              <a:t>данных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/>
              <a:t>Карта скроллинга: Расхождение между Вниманием и Конверсией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</a:rPr>
              <a:t>Тезис:</a:t>
            </a:r>
            <a:r>
              <a:rPr lang="ru" sz="1100">
                <a:solidFill>
                  <a:schemeClr val="dk1"/>
                </a:solidFill>
              </a:rPr>
              <a:t> Мы успешно привлекаем внимание (Красная зона), но теряем его до предложения решения.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 sz="1100">
                <a:solidFill>
                  <a:schemeClr val="dk1"/>
                </a:solidFill>
              </a:rPr>
              <a:t>Успех (Красная зона):</a:t>
            </a:r>
            <a:r>
              <a:rPr lang="ru" sz="1100">
                <a:solidFill>
                  <a:schemeClr val="dk1"/>
                </a:solidFill>
              </a:rPr>
              <a:t> Миссия проекта и эмоциональный крючок работают. Мы захватили внимание.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 sz="1100">
                <a:solidFill>
                  <a:schemeClr val="dk1"/>
                </a:solidFill>
              </a:rPr>
              <a:t>Провал (Белая зона):</a:t>
            </a:r>
            <a:r>
              <a:rPr lang="ru" sz="1100">
                <a:solidFill>
                  <a:schemeClr val="dk1"/>
                </a:solidFill>
              </a:rPr>
              <a:t> Ключевые </a:t>
            </a:r>
            <a:r>
              <a:rPr b="1" lang="ru" sz="1100">
                <a:solidFill>
                  <a:schemeClr val="dk1"/>
                </a:solidFill>
              </a:rPr>
              <a:t>Цели</a:t>
            </a:r>
            <a:r>
              <a:rPr lang="ru" sz="1100">
                <a:solidFill>
                  <a:schemeClr val="dk1"/>
                </a:solidFill>
              </a:rPr>
              <a:t> (CTA «Начать обучение») находятся в зоне низкого внимания. Мы заставили пользователя скроллить слишком долго, чтобы найти решение своей проблемы.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</a:rPr>
              <a:t>Редакционное Решение:</a:t>
            </a:r>
            <a:r>
              <a:rPr lang="ru" sz="1100">
                <a:solidFill>
                  <a:schemeClr val="dk1"/>
                </a:solidFill>
              </a:rPr>
              <a:t> Перенести целевое действие (CTA) выше – в желтую зону, сразу после эмоционального крючка. Сократить или разбить навигационные блоки, чтобы обеспечить более быструю "доставку" читателя к конверсионному действию.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999900" cy="348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2298325" y="445025"/>
            <a:ext cx="636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ru" sz="1700"/>
              <a:t>Карта Кликов: Диагностика взаимодействия и ожидания аудитории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311700" y="1152475"/>
            <a:ext cx="160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4"/>
          <p:cNvSpPr txBox="1"/>
          <p:nvPr>
            <p:ph idx="2" type="body"/>
          </p:nvPr>
        </p:nvSpPr>
        <p:spPr>
          <a:xfrm>
            <a:off x="2135725" y="1152475"/>
            <a:ext cx="6696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b="1" lang="ru" sz="2900">
                <a:solidFill>
                  <a:srgbClr val="1B1C1D"/>
                </a:solidFill>
              </a:rPr>
              <a:t>Главный Вывод: Доверие и Экспертиза — Единственный Драйвер</a:t>
            </a:r>
            <a:endParaRPr b="1" sz="2900">
              <a:solidFill>
                <a:srgbClr val="1B1C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ru" sz="2700">
                <a:solidFill>
                  <a:srgbClr val="1B1C1D"/>
                </a:solidFill>
              </a:rPr>
              <a:t>Для аудитории, которая приходит на проект о «Цифровой философии» и ИИ, </a:t>
            </a:r>
            <a:r>
              <a:rPr b="1" lang="ru" sz="2700">
                <a:solidFill>
                  <a:srgbClr val="1B1C1D"/>
                </a:solidFill>
              </a:rPr>
              <a:t>важнее всего, КТО стоит за этим знанием, а не ЧТО именно продают.</a:t>
            </a:r>
            <a:endParaRPr b="1" sz="2700">
              <a:solidFill>
                <a:srgbClr val="1B1C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ru" sz="2700">
                <a:solidFill>
                  <a:srgbClr val="1B1C1D"/>
                </a:solidFill>
              </a:rPr>
              <a:t>Это означает: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AutoNum type="arabicPeriod"/>
            </a:pPr>
            <a:r>
              <a:rPr b="1" lang="ru" sz="2700">
                <a:solidFill>
                  <a:srgbClr val="1B1C1D"/>
                </a:solidFill>
              </a:rPr>
              <a:t>Продукт Вторичен, Личность Первична:</a:t>
            </a:r>
            <a:r>
              <a:rPr lang="ru" sz="2700">
                <a:solidFill>
                  <a:srgbClr val="1B1C1D"/>
                </a:solidFill>
              </a:rPr>
              <a:t> Пользователи не доверяют абстрактной «лаборатории» или просто «курсу». Они ищут </a:t>
            </a:r>
            <a:r>
              <a:rPr b="1" lang="ru" sz="2700">
                <a:solidFill>
                  <a:srgbClr val="1B1C1D"/>
                </a:solidFill>
              </a:rPr>
              <a:t>верификацию</a:t>
            </a:r>
            <a:r>
              <a:rPr lang="ru" sz="2700">
                <a:solidFill>
                  <a:srgbClr val="1B1C1D"/>
                </a:solidFill>
              </a:rPr>
              <a:t> у академической или экспертной фигуры.</a:t>
            </a:r>
            <a:endParaRPr sz="2700">
              <a:solidFill>
                <a:srgbClr val="1B1C1D"/>
              </a:solidFill>
            </a:endParaRPr>
          </a:p>
          <a:p>
            <a:pPr indent="-284321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○"/>
            </a:pPr>
            <a:r>
              <a:rPr i="1" lang="ru" sz="2700">
                <a:solidFill>
                  <a:srgbClr val="1B1C1D"/>
                </a:solidFill>
              </a:rPr>
              <a:t>Следствие:</a:t>
            </a:r>
            <a:r>
              <a:rPr lang="ru" sz="2700">
                <a:solidFill>
                  <a:srgbClr val="1B1C1D"/>
                </a:solidFill>
              </a:rPr>
              <a:t> Они не кликают на «Начать обучение», потому что сначала должны убедиться в квалификации Дмитрия Ярёменко.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AutoNum type="arabicPeriod"/>
            </a:pPr>
            <a:r>
              <a:rPr b="1" lang="ru" sz="2700">
                <a:solidFill>
                  <a:srgbClr val="1B1C1D"/>
                </a:solidFill>
              </a:rPr>
              <a:t>Низкий Уровень Доверия на Старте:</a:t>
            </a:r>
            <a:r>
              <a:rPr lang="ru" sz="2700">
                <a:solidFill>
                  <a:srgbClr val="1B1C1D"/>
                </a:solidFill>
              </a:rPr>
              <a:t> Раздел «Кто мы?» и ФИО должны быть мощным триггером доверия, но поскольку пользователи активно кликают по ним, это говорит о том, что </a:t>
            </a:r>
            <a:r>
              <a:rPr b="1" lang="ru" sz="2700">
                <a:solidFill>
                  <a:srgbClr val="1B1C1D"/>
                </a:solidFill>
              </a:rPr>
              <a:t>доверие не было завоевано на первом экране</a:t>
            </a:r>
            <a:r>
              <a:rPr lang="ru" sz="2700">
                <a:solidFill>
                  <a:srgbClr val="1B1C1D"/>
                </a:solidFill>
              </a:rPr>
              <a:t>.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AutoNum type="arabicPeriod"/>
            </a:pPr>
            <a:r>
              <a:rPr b="1" lang="ru" sz="2700">
                <a:solidFill>
                  <a:srgbClr val="1B1C1D"/>
                </a:solidFill>
              </a:rPr>
              <a:t>Неэффективная Упаковка:</a:t>
            </a:r>
            <a:r>
              <a:rPr lang="ru" sz="2700">
                <a:solidFill>
                  <a:srgbClr val="1B1C1D"/>
                </a:solidFill>
              </a:rPr>
              <a:t> Если кликают на «Кто мы?», но не кликают на кнопки CTA, это значит, что </a:t>
            </a:r>
            <a:r>
              <a:rPr b="1" lang="ru" sz="2700">
                <a:solidFill>
                  <a:srgbClr val="1B1C1D"/>
                </a:solidFill>
              </a:rPr>
              <a:t>контент убеждения (Программа курса)</a:t>
            </a:r>
            <a:r>
              <a:rPr lang="ru" sz="2700">
                <a:solidFill>
                  <a:srgbClr val="1B1C1D"/>
                </a:solidFill>
              </a:rPr>
              <a:t> расположен неэффективно или недостаточно подробно описан.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93103"/>
              <a:buAutoNum type="arabicPeriod"/>
            </a:pPr>
            <a:r>
              <a:rPr b="1" lang="ru" sz="2900">
                <a:solidFill>
                  <a:srgbClr val="1B1C1D"/>
                </a:solidFill>
              </a:rPr>
              <a:t>Конкретные Рекомендации (Приоритет: Доверие)</a:t>
            </a:r>
            <a:endParaRPr b="1" sz="2900">
              <a:solidFill>
                <a:srgbClr val="1B1C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ru" sz="2700">
                <a:solidFill>
                  <a:srgbClr val="1B1C1D"/>
                </a:solidFill>
              </a:rPr>
              <a:t>Это требует стратегической перестройки, которую я добавлю в наш план рекомендаций.</a:t>
            </a:r>
            <a:endParaRPr sz="2700">
              <a:solidFill>
                <a:srgbClr val="1B1C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b="1" lang="ru" sz="2700">
                <a:solidFill>
                  <a:srgbClr val="1B1C1D"/>
                </a:solidFill>
              </a:rPr>
              <a:t>1. Рекомендация по UX и Редизайну (На базе кликов по "О нас")</a:t>
            </a:r>
            <a:endParaRPr b="1"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●"/>
            </a:pPr>
            <a:r>
              <a:rPr b="1" lang="ru" sz="2700">
                <a:solidFill>
                  <a:srgbClr val="1B1C1D"/>
                </a:solidFill>
              </a:rPr>
              <a:t>Действие:</a:t>
            </a:r>
            <a:r>
              <a:rPr lang="ru" sz="2700">
                <a:solidFill>
                  <a:srgbClr val="1B1C1D"/>
                </a:solidFill>
              </a:rPr>
              <a:t> </a:t>
            </a:r>
            <a:r>
              <a:rPr b="1" lang="ru" sz="2700">
                <a:solidFill>
                  <a:srgbClr val="1B1C1D"/>
                </a:solidFill>
              </a:rPr>
              <a:t>Поднимите раздел «Кто мы?» выше.</a:t>
            </a:r>
            <a:r>
              <a:rPr lang="ru" sz="2700">
                <a:solidFill>
                  <a:srgbClr val="1B1C1D"/>
                </a:solidFill>
              </a:rPr>
              <a:t> Разместите краткое подтверждение экспертизы (например, фотографию, 1-2 строки регалий и ФИО) прямо </a:t>
            </a:r>
            <a:r>
              <a:rPr b="1" lang="ru" sz="2700">
                <a:solidFill>
                  <a:srgbClr val="1B1C1D"/>
                </a:solidFill>
              </a:rPr>
              <a:t>под заголовком</a:t>
            </a:r>
            <a:r>
              <a:rPr lang="ru" sz="2700">
                <a:solidFill>
                  <a:srgbClr val="1B1C1D"/>
                </a:solidFill>
              </a:rPr>
              <a:t> («Цифровую эпоху») или сразу после эмоционального крючка («Чувствуете, что отстаёте?»).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●"/>
            </a:pPr>
            <a:r>
              <a:rPr b="1" lang="ru" sz="2700">
                <a:solidFill>
                  <a:srgbClr val="1B1C1D"/>
                </a:solidFill>
              </a:rPr>
              <a:t>Обоснование:</a:t>
            </a:r>
            <a:r>
              <a:rPr lang="ru" sz="2700">
                <a:solidFill>
                  <a:srgbClr val="1B1C1D"/>
                </a:solidFill>
              </a:rPr>
              <a:t> Раз аудитория ищет подтверждения, дайте ей его немедленно. Доверие должно предшествовать предложению.</a:t>
            </a:r>
            <a:endParaRPr sz="2700">
              <a:solidFill>
                <a:srgbClr val="1B1C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b="1" lang="ru" sz="2700">
                <a:solidFill>
                  <a:srgbClr val="1B1C1D"/>
                </a:solidFill>
              </a:rPr>
              <a:t>2. Рекомендация по Контенту (На базе кликов по ФИО)</a:t>
            </a:r>
            <a:endParaRPr b="1"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●"/>
            </a:pPr>
            <a:r>
              <a:rPr b="1" lang="ru" sz="2700">
                <a:solidFill>
                  <a:srgbClr val="1B1C1D"/>
                </a:solidFill>
              </a:rPr>
              <a:t>Действие:</a:t>
            </a:r>
            <a:r>
              <a:rPr lang="ru" sz="2700">
                <a:solidFill>
                  <a:srgbClr val="1B1C1D"/>
                </a:solidFill>
              </a:rPr>
              <a:t> </a:t>
            </a:r>
            <a:r>
              <a:rPr b="1" lang="ru" sz="2700">
                <a:solidFill>
                  <a:srgbClr val="1B1C1D"/>
                </a:solidFill>
              </a:rPr>
              <a:t>Создайте максимально подробный профиль/CV</a:t>
            </a:r>
            <a:r>
              <a:rPr lang="ru" sz="2700">
                <a:solidFill>
                  <a:srgbClr val="1B1C1D"/>
                </a:solidFill>
              </a:rPr>
              <a:t> руководителя. ФИО должно быть кликабельной ссылкой на эту страницу.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●"/>
            </a:pPr>
            <a:r>
              <a:rPr b="1" lang="ru" sz="2700">
                <a:solidFill>
                  <a:srgbClr val="1B1C1D"/>
                </a:solidFill>
              </a:rPr>
              <a:t>Обоснование:</a:t>
            </a:r>
            <a:r>
              <a:rPr lang="ru" sz="2700">
                <a:solidFill>
                  <a:srgbClr val="1B1C1D"/>
                </a:solidFill>
              </a:rPr>
              <a:t> Сделайте клик на ФИО </a:t>
            </a:r>
            <a:r>
              <a:rPr b="1" lang="ru" sz="2700">
                <a:solidFill>
                  <a:srgbClr val="1B1C1D"/>
                </a:solidFill>
              </a:rPr>
              <a:t>Целью</a:t>
            </a:r>
            <a:r>
              <a:rPr lang="ru" sz="2700">
                <a:solidFill>
                  <a:srgbClr val="1B1C1D"/>
                </a:solidFill>
              </a:rPr>
              <a:t> («Проверка экспертности»). Если эта цель достигнута, это повышает вероятность дальнейшей конверсии (регистрации на курс).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●"/>
            </a:pPr>
            <a:r>
              <a:rPr b="1" lang="ru" sz="2700">
                <a:solidFill>
                  <a:srgbClr val="1B1C1D"/>
                </a:solidFill>
              </a:rPr>
              <a:t>3. Рекомендация по CTA (На базе некликабельности кнопок)</a:t>
            </a:r>
            <a:endParaRPr b="1"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●"/>
            </a:pPr>
            <a:r>
              <a:rPr b="1" lang="ru" sz="2700">
                <a:solidFill>
                  <a:srgbClr val="1B1C1D"/>
                </a:solidFill>
              </a:rPr>
              <a:t>Действие:</a:t>
            </a:r>
            <a:r>
              <a:rPr lang="ru" sz="2700">
                <a:solidFill>
                  <a:srgbClr val="1B1C1D"/>
                </a:solidFill>
              </a:rPr>
              <a:t> Пересмотрите текст CTA. Возможно, </a:t>
            </a:r>
            <a:r>
              <a:rPr b="1" lang="ru" sz="2700">
                <a:solidFill>
                  <a:srgbClr val="1B1C1D"/>
                </a:solidFill>
              </a:rPr>
              <a:t>«Начать обучение»</a:t>
            </a:r>
            <a:r>
              <a:rPr lang="ru" sz="2700">
                <a:solidFill>
                  <a:srgbClr val="1B1C1D"/>
                </a:solidFill>
              </a:rPr>
              <a:t> звучит слишком обязывающе.</a:t>
            </a:r>
            <a:endParaRPr sz="2700">
              <a:solidFill>
                <a:srgbClr val="1B1C1D"/>
              </a:solidFill>
            </a:endParaRPr>
          </a:p>
          <a:p>
            <a:pPr indent="-2843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ct val="100000"/>
              <a:buChar char="●"/>
            </a:pPr>
            <a:r>
              <a:rPr b="1" lang="ru" sz="2700">
                <a:solidFill>
                  <a:srgbClr val="1B1C1D"/>
                </a:solidFill>
              </a:rPr>
              <a:t>Обоснование:</a:t>
            </a:r>
            <a:r>
              <a:rPr lang="ru" sz="2700">
                <a:solidFill>
                  <a:srgbClr val="1B1C1D"/>
                </a:solidFill>
              </a:rPr>
              <a:t> Попробуйте A/B-тест с текстом </a:t>
            </a:r>
            <a:r>
              <a:rPr b="1" lang="ru" sz="2700">
                <a:solidFill>
                  <a:srgbClr val="1B1C1D"/>
                </a:solidFill>
              </a:rPr>
              <a:t>«Подробнее об эксперте»</a:t>
            </a:r>
            <a:r>
              <a:rPr lang="ru" sz="2700">
                <a:solidFill>
                  <a:srgbClr val="1B1C1D"/>
                </a:solidFill>
              </a:rPr>
              <a:t> или </a:t>
            </a:r>
            <a:r>
              <a:rPr b="1" lang="ru" sz="2700">
                <a:solidFill>
                  <a:srgbClr val="1B1C1D"/>
                </a:solidFill>
              </a:rPr>
              <a:t>«Ознакомиться с подходом»</a:t>
            </a:r>
            <a:r>
              <a:rPr lang="ru" sz="2700">
                <a:solidFill>
                  <a:srgbClr val="1B1C1D"/>
                </a:solidFill>
              </a:rPr>
              <a:t> в блоке «Кто мы?», чтобы перенаправить этот горячий трафик в лояльность, а не в тупик.</a:t>
            </a:r>
            <a:endParaRPr sz="2700">
              <a:solidFill>
                <a:srgbClr val="1B1C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B1C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725" y="199600"/>
            <a:ext cx="2324288" cy="494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первом экране нужно завоевать Доверие, прежде чем просить о действии.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Атрибуция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Атрибуция — это способ определить, как разные источники трафика или рекламные каналы влияют на совершение целевого действия (конверсии) на сайте.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Модель атрибуции — правило или алгоритм, который определяет, какой из переходов (касаний) считается решающим для присвоения ему конверсии.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модели атрибуции в Яндекс.Метрике: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Первый переход (First click) — конверсия приписывается первому источнику трафика. Используется при узнаваемом бренде или важности первого контакта.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Последний переход (Last click) — конверсия уходит последнему источнику. Часто используется при минимизации отказов.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Последний значимый переход — учитываются только значимые визиты, которые реально влияют на конверсию.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Последний переход из Яндекс.Директа — конверсия присваивается последнему клику из Директа.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Автоматический режим — система сама распределяет ценность между разными источниками на основе их вклада.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Терминология «значимый» и «незначимый» переход: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Значимые переходы — это переходы по объявлениям, по поиску, с других сайтов.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Незначимые переходы — сохранённые в закладках страницы, внутренние переходы, прямые заходы.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Окно атрибуции — период, в течение которого учитываются переходы перед конверсией, обычно 90 дней.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